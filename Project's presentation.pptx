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2" r:id="rId5"/>
    <p:sldId id="259" r:id="rId6"/>
    <p:sldId id="260" r:id="rId7"/>
    <p:sldId id="266" r:id="rId8"/>
    <p:sldId id="264" r:id="rId9"/>
    <p:sldId id="265" r:id="rId10"/>
  </p:sldIdLst>
  <p:sldSz cx="12192000" cy="6858000"/>
  <p:notesSz cx="6858000" cy="9144000"/>
  <p:custDataLst>
    <p:tags r:id="rId11"/>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hyperlink" Target="https://www.kaggle.com/davidwallach/financial-tweets/home?select=stockerbot-export.csv"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davidwallach/financial-tweets/home?select=stockerbot-export.csv"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7861B6-4FE0-4F5C-9597-9EFD0DD558F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E2C2299-6396-48FA-B105-7316FE5DE544}">
      <dgm:prSet/>
      <dgm:spPr/>
      <dgm:t>
        <a:bodyPr/>
        <a:lstStyle/>
        <a:p>
          <a:r>
            <a:rPr lang="en-US" dirty="0"/>
            <a:t>For this experiment, we use the </a:t>
          </a:r>
          <a:r>
            <a:rPr lang="en-US" dirty="0">
              <a:hlinkClick xmlns:r="http://schemas.openxmlformats.org/officeDocument/2006/relationships" r:id="rId1"/>
            </a:rPr>
            <a:t>“Financial tweets”</a:t>
          </a:r>
          <a:r>
            <a:rPr lang="en-US" dirty="0"/>
            <a:t> from </a:t>
          </a:r>
          <a:r>
            <a:rPr lang="en-US" dirty="0" err="1"/>
            <a:t>Kaggle</a:t>
          </a:r>
          <a:r>
            <a:rPr lang="en-US" dirty="0"/>
            <a:t>.</a:t>
          </a:r>
        </a:p>
      </dgm:t>
    </dgm:pt>
    <dgm:pt modelId="{07C3D97C-BB19-4A25-81B7-A147CAF97D2C}" type="parTrans" cxnId="{BB49F6B6-4799-4959-BA96-E66951D85BA8}">
      <dgm:prSet/>
      <dgm:spPr/>
      <dgm:t>
        <a:bodyPr/>
        <a:lstStyle/>
        <a:p>
          <a:endParaRPr lang="en-US"/>
        </a:p>
      </dgm:t>
    </dgm:pt>
    <dgm:pt modelId="{CB6B404F-2AB1-4B8A-B3C5-5635CE2C6D24}" type="sibTrans" cxnId="{BB49F6B6-4799-4959-BA96-E66951D85BA8}">
      <dgm:prSet/>
      <dgm:spPr/>
      <dgm:t>
        <a:bodyPr/>
        <a:lstStyle/>
        <a:p>
          <a:endParaRPr lang="en-US"/>
        </a:p>
      </dgm:t>
    </dgm:pt>
    <dgm:pt modelId="{E0D59966-98DA-44BD-B407-A380CA00BEE8}">
      <dgm:prSet/>
      <dgm:spPr/>
      <dgm:t>
        <a:bodyPr/>
        <a:lstStyle/>
        <a:p>
          <a:r>
            <a:rPr lang="en-US" dirty="0"/>
            <a:t>This file contains 28k+ tweets about publicly traded companies (and a few cryptocurrencies) that are tagged with the company they are tweeting about and their symbol as well as more fields.</a:t>
          </a:r>
        </a:p>
      </dgm:t>
    </dgm:pt>
    <dgm:pt modelId="{6DFAA3D5-9F27-4779-B0D5-C9F6C0B5229D}" type="parTrans" cxnId="{19FFFA78-886F-47BA-AE29-C2B198AA17F0}">
      <dgm:prSet/>
      <dgm:spPr/>
      <dgm:t>
        <a:bodyPr/>
        <a:lstStyle/>
        <a:p>
          <a:endParaRPr lang="en-US"/>
        </a:p>
      </dgm:t>
    </dgm:pt>
    <dgm:pt modelId="{FDBA2542-5511-4553-966E-99D5C00FEFE3}" type="sibTrans" cxnId="{19FFFA78-886F-47BA-AE29-C2B198AA17F0}">
      <dgm:prSet/>
      <dgm:spPr/>
      <dgm:t>
        <a:bodyPr/>
        <a:lstStyle/>
        <a:p>
          <a:endParaRPr lang="en-US"/>
        </a:p>
      </dgm:t>
    </dgm:pt>
    <dgm:pt modelId="{2597F7A7-11C9-4007-93FD-EA69BAC44AD5}">
      <dgm:prSet/>
      <dgm:spPr/>
      <dgm:t>
        <a:bodyPr/>
        <a:lstStyle/>
        <a:p>
          <a:r>
            <a:rPr lang="en-US" dirty="0"/>
            <a:t>For our project we have chosen 10 companies: Accenture plc, Apple Inc., Bed Bath &amp; Beyond Inc., CEMEX, Electronic Arts Inc., Kellogg Company, M&amp;T Bank Corporation, Micron Technology, Starbucks Corporation, The Goldman Sachs.</a:t>
          </a:r>
        </a:p>
      </dgm:t>
    </dgm:pt>
    <dgm:pt modelId="{0D2BE612-060D-4F88-B584-9BB9BCCF2495}" type="parTrans" cxnId="{F59B795E-C115-48D6-B180-B44286786463}">
      <dgm:prSet/>
      <dgm:spPr/>
      <dgm:t>
        <a:bodyPr/>
        <a:lstStyle/>
        <a:p>
          <a:endParaRPr lang="en-US"/>
        </a:p>
      </dgm:t>
    </dgm:pt>
    <dgm:pt modelId="{332995C8-4352-47B3-B835-A637921DA8F7}" type="sibTrans" cxnId="{F59B795E-C115-48D6-B180-B44286786463}">
      <dgm:prSet/>
      <dgm:spPr/>
      <dgm:t>
        <a:bodyPr/>
        <a:lstStyle/>
        <a:p>
          <a:endParaRPr lang="en-US"/>
        </a:p>
      </dgm:t>
    </dgm:pt>
    <dgm:pt modelId="{94468AF4-07DA-C44A-9530-B89DC5C0FA3E}" type="pres">
      <dgm:prSet presAssocID="{B47861B6-4FE0-4F5C-9597-9EFD0DD558F8}" presName="vert0" presStyleCnt="0">
        <dgm:presLayoutVars>
          <dgm:dir/>
          <dgm:animOne val="branch"/>
          <dgm:animLvl val="lvl"/>
        </dgm:presLayoutVars>
      </dgm:prSet>
      <dgm:spPr/>
      <dgm:t>
        <a:bodyPr/>
        <a:lstStyle/>
        <a:p>
          <a:endParaRPr lang="ru-RU"/>
        </a:p>
      </dgm:t>
    </dgm:pt>
    <dgm:pt modelId="{FCF9BD44-9BC8-0841-9333-20F8B5F5CF65}" type="pres">
      <dgm:prSet presAssocID="{7E2C2299-6396-48FA-B105-7316FE5DE544}" presName="thickLine" presStyleLbl="alignNode1" presStyleIdx="0" presStyleCnt="3"/>
      <dgm:spPr/>
    </dgm:pt>
    <dgm:pt modelId="{17D22E3F-973D-1149-8B1C-BC5380F335F5}" type="pres">
      <dgm:prSet presAssocID="{7E2C2299-6396-48FA-B105-7316FE5DE544}" presName="horz1" presStyleCnt="0"/>
      <dgm:spPr/>
    </dgm:pt>
    <dgm:pt modelId="{CA8EFEC9-1097-D34C-83E2-00E9D6D0A60B}" type="pres">
      <dgm:prSet presAssocID="{7E2C2299-6396-48FA-B105-7316FE5DE544}" presName="tx1" presStyleLbl="revTx" presStyleIdx="0" presStyleCnt="3"/>
      <dgm:spPr/>
      <dgm:t>
        <a:bodyPr/>
        <a:lstStyle/>
        <a:p>
          <a:endParaRPr lang="ru-RU"/>
        </a:p>
      </dgm:t>
    </dgm:pt>
    <dgm:pt modelId="{D88ACE16-344D-4F4B-8E32-7A703935D42A}" type="pres">
      <dgm:prSet presAssocID="{7E2C2299-6396-48FA-B105-7316FE5DE544}" presName="vert1" presStyleCnt="0"/>
      <dgm:spPr/>
    </dgm:pt>
    <dgm:pt modelId="{1328204A-5AB8-C84C-91D5-04F4D12F5358}" type="pres">
      <dgm:prSet presAssocID="{E0D59966-98DA-44BD-B407-A380CA00BEE8}" presName="thickLine" presStyleLbl="alignNode1" presStyleIdx="1" presStyleCnt="3"/>
      <dgm:spPr/>
    </dgm:pt>
    <dgm:pt modelId="{9C51B3E9-01CB-0D4F-9E97-551C85120DBA}" type="pres">
      <dgm:prSet presAssocID="{E0D59966-98DA-44BD-B407-A380CA00BEE8}" presName="horz1" presStyleCnt="0"/>
      <dgm:spPr/>
    </dgm:pt>
    <dgm:pt modelId="{3E3DCC42-BDE5-7749-AF7B-8E7AA47D056E}" type="pres">
      <dgm:prSet presAssocID="{E0D59966-98DA-44BD-B407-A380CA00BEE8}" presName="tx1" presStyleLbl="revTx" presStyleIdx="1" presStyleCnt="3"/>
      <dgm:spPr/>
      <dgm:t>
        <a:bodyPr/>
        <a:lstStyle/>
        <a:p>
          <a:endParaRPr lang="ru-RU"/>
        </a:p>
      </dgm:t>
    </dgm:pt>
    <dgm:pt modelId="{61F6302A-AFE6-B143-9E3A-ED93CD5B8979}" type="pres">
      <dgm:prSet presAssocID="{E0D59966-98DA-44BD-B407-A380CA00BEE8}" presName="vert1" presStyleCnt="0"/>
      <dgm:spPr/>
    </dgm:pt>
    <dgm:pt modelId="{767A8C67-AC39-5C4E-8DA9-FD5337D0C57C}" type="pres">
      <dgm:prSet presAssocID="{2597F7A7-11C9-4007-93FD-EA69BAC44AD5}" presName="thickLine" presStyleLbl="alignNode1" presStyleIdx="2" presStyleCnt="3"/>
      <dgm:spPr/>
    </dgm:pt>
    <dgm:pt modelId="{7B7EB09B-9FF6-9C42-B53B-17325C4FF60D}" type="pres">
      <dgm:prSet presAssocID="{2597F7A7-11C9-4007-93FD-EA69BAC44AD5}" presName="horz1" presStyleCnt="0"/>
      <dgm:spPr/>
    </dgm:pt>
    <dgm:pt modelId="{61A07B5B-039D-934A-BF2A-9A6E160D6D25}" type="pres">
      <dgm:prSet presAssocID="{2597F7A7-11C9-4007-93FD-EA69BAC44AD5}" presName="tx1" presStyleLbl="revTx" presStyleIdx="2" presStyleCnt="3"/>
      <dgm:spPr/>
      <dgm:t>
        <a:bodyPr/>
        <a:lstStyle/>
        <a:p>
          <a:endParaRPr lang="ru-RU"/>
        </a:p>
      </dgm:t>
    </dgm:pt>
    <dgm:pt modelId="{5933ED91-1863-6948-BFB4-79A25CB89CBF}" type="pres">
      <dgm:prSet presAssocID="{2597F7A7-11C9-4007-93FD-EA69BAC44AD5}" presName="vert1" presStyleCnt="0"/>
      <dgm:spPr/>
    </dgm:pt>
  </dgm:ptLst>
  <dgm:cxnLst>
    <dgm:cxn modelId="{19FFFA78-886F-47BA-AE29-C2B198AA17F0}" srcId="{B47861B6-4FE0-4F5C-9597-9EFD0DD558F8}" destId="{E0D59966-98DA-44BD-B407-A380CA00BEE8}" srcOrd="1" destOrd="0" parTransId="{6DFAA3D5-9F27-4779-B0D5-C9F6C0B5229D}" sibTransId="{FDBA2542-5511-4553-966E-99D5C00FEFE3}"/>
    <dgm:cxn modelId="{907AC557-BEB0-3B4E-B82D-091F07005894}" type="presOf" srcId="{E0D59966-98DA-44BD-B407-A380CA00BEE8}" destId="{3E3DCC42-BDE5-7749-AF7B-8E7AA47D056E}" srcOrd="0" destOrd="0" presId="urn:microsoft.com/office/officeart/2008/layout/LinedList"/>
    <dgm:cxn modelId="{0C68066B-FDF6-714F-A944-B0DE3B2F900F}" type="presOf" srcId="{B47861B6-4FE0-4F5C-9597-9EFD0DD558F8}" destId="{94468AF4-07DA-C44A-9530-B89DC5C0FA3E}" srcOrd="0" destOrd="0" presId="urn:microsoft.com/office/officeart/2008/layout/LinedList"/>
    <dgm:cxn modelId="{ABDBCCE9-59E3-9540-B0C6-B4DC4A8BB855}" type="presOf" srcId="{7E2C2299-6396-48FA-B105-7316FE5DE544}" destId="{CA8EFEC9-1097-D34C-83E2-00E9D6D0A60B}" srcOrd="0" destOrd="0" presId="urn:microsoft.com/office/officeart/2008/layout/LinedList"/>
    <dgm:cxn modelId="{7855BCCA-43A1-4A4F-AD1B-132C8AF34BF4}" type="presOf" srcId="{2597F7A7-11C9-4007-93FD-EA69BAC44AD5}" destId="{61A07B5B-039D-934A-BF2A-9A6E160D6D25}" srcOrd="0" destOrd="0" presId="urn:microsoft.com/office/officeart/2008/layout/LinedList"/>
    <dgm:cxn modelId="{BB49F6B6-4799-4959-BA96-E66951D85BA8}" srcId="{B47861B6-4FE0-4F5C-9597-9EFD0DD558F8}" destId="{7E2C2299-6396-48FA-B105-7316FE5DE544}" srcOrd="0" destOrd="0" parTransId="{07C3D97C-BB19-4A25-81B7-A147CAF97D2C}" sibTransId="{CB6B404F-2AB1-4B8A-B3C5-5635CE2C6D24}"/>
    <dgm:cxn modelId="{F59B795E-C115-48D6-B180-B44286786463}" srcId="{B47861B6-4FE0-4F5C-9597-9EFD0DD558F8}" destId="{2597F7A7-11C9-4007-93FD-EA69BAC44AD5}" srcOrd="2" destOrd="0" parTransId="{0D2BE612-060D-4F88-B584-9BB9BCCF2495}" sibTransId="{332995C8-4352-47B3-B835-A637921DA8F7}"/>
    <dgm:cxn modelId="{5990B2D2-4F7C-E844-8888-7E6A9FFEEA1E}" type="presParOf" srcId="{94468AF4-07DA-C44A-9530-B89DC5C0FA3E}" destId="{FCF9BD44-9BC8-0841-9333-20F8B5F5CF65}" srcOrd="0" destOrd="0" presId="urn:microsoft.com/office/officeart/2008/layout/LinedList"/>
    <dgm:cxn modelId="{6B908CF2-169E-5D4B-BC26-3393C4A6C367}" type="presParOf" srcId="{94468AF4-07DA-C44A-9530-B89DC5C0FA3E}" destId="{17D22E3F-973D-1149-8B1C-BC5380F335F5}" srcOrd="1" destOrd="0" presId="urn:microsoft.com/office/officeart/2008/layout/LinedList"/>
    <dgm:cxn modelId="{192F2390-400C-9345-B463-B55200F79051}" type="presParOf" srcId="{17D22E3F-973D-1149-8B1C-BC5380F335F5}" destId="{CA8EFEC9-1097-D34C-83E2-00E9D6D0A60B}" srcOrd="0" destOrd="0" presId="urn:microsoft.com/office/officeart/2008/layout/LinedList"/>
    <dgm:cxn modelId="{9F7A5C6E-8CFE-7F43-84B2-2C21B1EB51C1}" type="presParOf" srcId="{17D22E3F-973D-1149-8B1C-BC5380F335F5}" destId="{D88ACE16-344D-4F4B-8E32-7A703935D42A}" srcOrd="1" destOrd="0" presId="urn:microsoft.com/office/officeart/2008/layout/LinedList"/>
    <dgm:cxn modelId="{2A1485AF-5BF7-6046-81B3-D7F9082FC745}" type="presParOf" srcId="{94468AF4-07DA-C44A-9530-B89DC5C0FA3E}" destId="{1328204A-5AB8-C84C-91D5-04F4D12F5358}" srcOrd="2" destOrd="0" presId="urn:microsoft.com/office/officeart/2008/layout/LinedList"/>
    <dgm:cxn modelId="{62D868CC-5726-0F4E-90A5-398EF8D67DD4}" type="presParOf" srcId="{94468AF4-07DA-C44A-9530-B89DC5C0FA3E}" destId="{9C51B3E9-01CB-0D4F-9E97-551C85120DBA}" srcOrd="3" destOrd="0" presId="urn:microsoft.com/office/officeart/2008/layout/LinedList"/>
    <dgm:cxn modelId="{607FA747-D6A6-4D4E-B1B1-B84C81EF01C7}" type="presParOf" srcId="{9C51B3E9-01CB-0D4F-9E97-551C85120DBA}" destId="{3E3DCC42-BDE5-7749-AF7B-8E7AA47D056E}" srcOrd="0" destOrd="0" presId="urn:microsoft.com/office/officeart/2008/layout/LinedList"/>
    <dgm:cxn modelId="{1716C76C-5F69-424A-8C11-1156DF2977E6}" type="presParOf" srcId="{9C51B3E9-01CB-0D4F-9E97-551C85120DBA}" destId="{61F6302A-AFE6-B143-9E3A-ED93CD5B8979}" srcOrd="1" destOrd="0" presId="urn:microsoft.com/office/officeart/2008/layout/LinedList"/>
    <dgm:cxn modelId="{3BE42102-DB16-8946-BFA6-0BB8C1995406}" type="presParOf" srcId="{94468AF4-07DA-C44A-9530-B89DC5C0FA3E}" destId="{767A8C67-AC39-5C4E-8DA9-FD5337D0C57C}" srcOrd="4" destOrd="0" presId="urn:microsoft.com/office/officeart/2008/layout/LinedList"/>
    <dgm:cxn modelId="{76DD4833-8621-FE4D-AEF7-47268F53C4D7}" type="presParOf" srcId="{94468AF4-07DA-C44A-9530-B89DC5C0FA3E}" destId="{7B7EB09B-9FF6-9C42-B53B-17325C4FF60D}" srcOrd="5" destOrd="0" presId="urn:microsoft.com/office/officeart/2008/layout/LinedList"/>
    <dgm:cxn modelId="{4CB56540-0042-504A-8C3D-BB604B69E964}" type="presParOf" srcId="{7B7EB09B-9FF6-9C42-B53B-17325C4FF60D}" destId="{61A07B5B-039D-934A-BF2A-9A6E160D6D25}" srcOrd="0" destOrd="0" presId="urn:microsoft.com/office/officeart/2008/layout/LinedList"/>
    <dgm:cxn modelId="{5EA42DA6-AE3A-D146-8CC3-73C8D0C225AF}" type="presParOf" srcId="{7B7EB09B-9FF6-9C42-B53B-17325C4FF60D}" destId="{5933ED91-1863-6948-BFB4-79A25CB89CB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337F35-90A4-4EA0-B6BF-47A1FBEF81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E5D4C19-8F45-4363-BE74-55F844D55670}">
      <dgm:prSet custT="1"/>
      <dgm:spPr/>
      <dgm:t>
        <a:bodyPr/>
        <a:lstStyle/>
        <a:p>
          <a:r>
            <a:rPr lang="en-US" sz="2400" dirty="0"/>
            <a:t>We also have collected Stock Close prices for our 10 companies from Yahoo Finance.</a:t>
          </a:r>
          <a:r>
            <a:rPr lang="ru-RU" sz="2400" dirty="0"/>
            <a:t> </a:t>
          </a:r>
          <a:r>
            <a:rPr lang="en-US" sz="2400" dirty="0"/>
            <a:t>Then we converted them into daily stock returns to compare </a:t>
          </a:r>
          <a:r>
            <a:rPr lang="en" sz="2400" dirty="0"/>
            <a:t>this data with the result of the model. </a:t>
          </a:r>
          <a:endParaRPr lang="en-US" sz="2400" dirty="0"/>
        </a:p>
        <a:p>
          <a:r>
            <a:rPr lang="en-US" sz="2000" dirty="0"/>
            <a:t>We used the modules: </a:t>
          </a:r>
          <a:r>
            <a:rPr lang="en-US" sz="2000" dirty="0" err="1"/>
            <a:t>yfinance</a:t>
          </a:r>
          <a:r>
            <a:rPr lang="en-US" sz="2000" dirty="0"/>
            <a:t>, </a:t>
          </a:r>
          <a:r>
            <a:rPr lang="en-US" sz="2000" dirty="0" err="1"/>
            <a:t>yahoofinancials</a:t>
          </a:r>
          <a:r>
            <a:rPr lang="en-US" sz="2000" dirty="0"/>
            <a:t>.</a:t>
          </a:r>
        </a:p>
      </dgm:t>
    </dgm:pt>
    <dgm:pt modelId="{16B7DAE9-76D9-4125-8295-CFCAF4F081AE}" type="parTrans" cxnId="{78759DC4-34E8-435A-8A1E-AD74D275C1CF}">
      <dgm:prSet/>
      <dgm:spPr/>
      <dgm:t>
        <a:bodyPr/>
        <a:lstStyle/>
        <a:p>
          <a:endParaRPr lang="en-US"/>
        </a:p>
      </dgm:t>
    </dgm:pt>
    <dgm:pt modelId="{DEC377F8-98CF-4274-9462-5E786F963417}" type="sibTrans" cxnId="{78759DC4-34E8-435A-8A1E-AD74D275C1CF}">
      <dgm:prSet/>
      <dgm:spPr/>
      <dgm:t>
        <a:bodyPr/>
        <a:lstStyle/>
        <a:p>
          <a:endParaRPr lang="en-US"/>
        </a:p>
      </dgm:t>
    </dgm:pt>
    <dgm:pt modelId="{4C988898-9846-442E-80EB-A5D85828F95E}">
      <dgm:prSet custT="1"/>
      <dgm:spPr/>
      <dgm:t>
        <a:bodyPr/>
        <a:lstStyle/>
        <a:p>
          <a:endParaRPr lang="en-US" sz="4800" dirty="0"/>
        </a:p>
      </dgm:t>
    </dgm:pt>
    <dgm:pt modelId="{BB73A06B-C463-4789-8D9D-2B06D6256249}" type="parTrans" cxnId="{DA620533-A245-48B2-963D-83A1B2C010E6}">
      <dgm:prSet/>
      <dgm:spPr/>
      <dgm:t>
        <a:bodyPr/>
        <a:lstStyle/>
        <a:p>
          <a:endParaRPr lang="en-US"/>
        </a:p>
      </dgm:t>
    </dgm:pt>
    <dgm:pt modelId="{E5F35771-22A4-477D-B90D-77823C4B267C}" type="sibTrans" cxnId="{DA620533-A245-48B2-963D-83A1B2C010E6}">
      <dgm:prSet/>
      <dgm:spPr/>
      <dgm:t>
        <a:bodyPr/>
        <a:lstStyle/>
        <a:p>
          <a:endParaRPr lang="en-US"/>
        </a:p>
      </dgm:t>
    </dgm:pt>
    <dgm:pt modelId="{FD6EBBBE-481B-A143-B455-45588A0DA49D}" type="pres">
      <dgm:prSet presAssocID="{6C337F35-90A4-4EA0-B6BF-47A1FBEF81D4}" presName="vert0" presStyleCnt="0">
        <dgm:presLayoutVars>
          <dgm:dir/>
          <dgm:animOne val="branch"/>
          <dgm:animLvl val="lvl"/>
        </dgm:presLayoutVars>
      </dgm:prSet>
      <dgm:spPr/>
      <dgm:t>
        <a:bodyPr/>
        <a:lstStyle/>
        <a:p>
          <a:endParaRPr lang="ru-RU"/>
        </a:p>
      </dgm:t>
    </dgm:pt>
    <dgm:pt modelId="{FF5EB417-C3C1-CB4C-B219-964BCEB24141}" type="pres">
      <dgm:prSet presAssocID="{3E5D4C19-8F45-4363-BE74-55F844D55670}" presName="thickLine" presStyleLbl="alignNode1" presStyleIdx="0" presStyleCnt="2"/>
      <dgm:spPr/>
    </dgm:pt>
    <dgm:pt modelId="{F1DAE8CF-9807-B04D-8BD4-F33A6E419DC1}" type="pres">
      <dgm:prSet presAssocID="{3E5D4C19-8F45-4363-BE74-55F844D55670}" presName="horz1" presStyleCnt="0"/>
      <dgm:spPr/>
    </dgm:pt>
    <dgm:pt modelId="{9516B398-3CD3-4B47-B024-35AE77614DF3}" type="pres">
      <dgm:prSet presAssocID="{3E5D4C19-8F45-4363-BE74-55F844D55670}" presName="tx1" presStyleLbl="revTx" presStyleIdx="0" presStyleCnt="2" custLinFactNeighborY="-14014"/>
      <dgm:spPr/>
      <dgm:t>
        <a:bodyPr/>
        <a:lstStyle/>
        <a:p>
          <a:endParaRPr lang="ru-RU"/>
        </a:p>
      </dgm:t>
    </dgm:pt>
    <dgm:pt modelId="{B1A09D7F-3CCF-8945-B982-390623CD27B9}" type="pres">
      <dgm:prSet presAssocID="{3E5D4C19-8F45-4363-BE74-55F844D55670}" presName="vert1" presStyleCnt="0"/>
      <dgm:spPr/>
    </dgm:pt>
    <dgm:pt modelId="{22617E92-3F81-6144-A808-A256829A4B7F}" type="pres">
      <dgm:prSet presAssocID="{4C988898-9846-442E-80EB-A5D85828F95E}" presName="thickLine" presStyleLbl="alignNode1" presStyleIdx="1" presStyleCnt="2"/>
      <dgm:spPr/>
    </dgm:pt>
    <dgm:pt modelId="{8F92B0FC-A3C6-134E-BB11-D9EF882F3483}" type="pres">
      <dgm:prSet presAssocID="{4C988898-9846-442E-80EB-A5D85828F95E}" presName="horz1" presStyleCnt="0"/>
      <dgm:spPr/>
    </dgm:pt>
    <dgm:pt modelId="{B4228C2A-5110-524D-AF98-8BFE834F252D}" type="pres">
      <dgm:prSet presAssocID="{4C988898-9846-442E-80EB-A5D85828F95E}" presName="tx1" presStyleLbl="revTx" presStyleIdx="1" presStyleCnt="2"/>
      <dgm:spPr/>
      <dgm:t>
        <a:bodyPr/>
        <a:lstStyle/>
        <a:p>
          <a:endParaRPr lang="ru-RU"/>
        </a:p>
      </dgm:t>
    </dgm:pt>
    <dgm:pt modelId="{3D70D50F-34A8-3649-AB8C-62F64D0F3293}" type="pres">
      <dgm:prSet presAssocID="{4C988898-9846-442E-80EB-A5D85828F95E}" presName="vert1" presStyleCnt="0"/>
      <dgm:spPr/>
    </dgm:pt>
  </dgm:ptLst>
  <dgm:cxnLst>
    <dgm:cxn modelId="{87948E3A-2501-4541-ABB9-878BA93119FD}" type="presOf" srcId="{4C988898-9846-442E-80EB-A5D85828F95E}" destId="{B4228C2A-5110-524D-AF98-8BFE834F252D}" srcOrd="0" destOrd="0" presId="urn:microsoft.com/office/officeart/2008/layout/LinedList"/>
    <dgm:cxn modelId="{78759DC4-34E8-435A-8A1E-AD74D275C1CF}" srcId="{6C337F35-90A4-4EA0-B6BF-47A1FBEF81D4}" destId="{3E5D4C19-8F45-4363-BE74-55F844D55670}" srcOrd="0" destOrd="0" parTransId="{16B7DAE9-76D9-4125-8295-CFCAF4F081AE}" sibTransId="{DEC377F8-98CF-4274-9462-5E786F963417}"/>
    <dgm:cxn modelId="{369B7F83-F045-8741-BE86-9295E1034B9A}" type="presOf" srcId="{6C337F35-90A4-4EA0-B6BF-47A1FBEF81D4}" destId="{FD6EBBBE-481B-A143-B455-45588A0DA49D}" srcOrd="0" destOrd="0" presId="urn:microsoft.com/office/officeart/2008/layout/LinedList"/>
    <dgm:cxn modelId="{DA620533-A245-48B2-963D-83A1B2C010E6}" srcId="{6C337F35-90A4-4EA0-B6BF-47A1FBEF81D4}" destId="{4C988898-9846-442E-80EB-A5D85828F95E}" srcOrd="1" destOrd="0" parTransId="{BB73A06B-C463-4789-8D9D-2B06D6256249}" sibTransId="{E5F35771-22A4-477D-B90D-77823C4B267C}"/>
    <dgm:cxn modelId="{A327F575-740C-4443-8F0A-13D4D8AD5196}" type="presOf" srcId="{3E5D4C19-8F45-4363-BE74-55F844D55670}" destId="{9516B398-3CD3-4B47-B024-35AE77614DF3}" srcOrd="0" destOrd="0" presId="urn:microsoft.com/office/officeart/2008/layout/LinedList"/>
    <dgm:cxn modelId="{1FE7473B-8734-5245-AAE2-DEDC810887B8}" type="presParOf" srcId="{FD6EBBBE-481B-A143-B455-45588A0DA49D}" destId="{FF5EB417-C3C1-CB4C-B219-964BCEB24141}" srcOrd="0" destOrd="0" presId="urn:microsoft.com/office/officeart/2008/layout/LinedList"/>
    <dgm:cxn modelId="{37AA8B8E-C18D-D040-BC00-8123EF8C3EE5}" type="presParOf" srcId="{FD6EBBBE-481B-A143-B455-45588A0DA49D}" destId="{F1DAE8CF-9807-B04D-8BD4-F33A6E419DC1}" srcOrd="1" destOrd="0" presId="urn:microsoft.com/office/officeart/2008/layout/LinedList"/>
    <dgm:cxn modelId="{C4476532-6229-BD46-AB61-3A7D4E035101}" type="presParOf" srcId="{F1DAE8CF-9807-B04D-8BD4-F33A6E419DC1}" destId="{9516B398-3CD3-4B47-B024-35AE77614DF3}" srcOrd="0" destOrd="0" presId="urn:microsoft.com/office/officeart/2008/layout/LinedList"/>
    <dgm:cxn modelId="{B2280D13-9DC1-3844-81FF-32912933A0E2}" type="presParOf" srcId="{F1DAE8CF-9807-B04D-8BD4-F33A6E419DC1}" destId="{B1A09D7F-3CCF-8945-B982-390623CD27B9}" srcOrd="1" destOrd="0" presId="urn:microsoft.com/office/officeart/2008/layout/LinedList"/>
    <dgm:cxn modelId="{7C13F335-2E1B-F442-8B69-12B4D0FBDD53}" type="presParOf" srcId="{FD6EBBBE-481B-A143-B455-45588A0DA49D}" destId="{22617E92-3F81-6144-A808-A256829A4B7F}" srcOrd="2" destOrd="0" presId="urn:microsoft.com/office/officeart/2008/layout/LinedList"/>
    <dgm:cxn modelId="{3B544D7B-10C2-C34C-B46D-9735D0D4CD8D}" type="presParOf" srcId="{FD6EBBBE-481B-A143-B455-45588A0DA49D}" destId="{8F92B0FC-A3C6-134E-BB11-D9EF882F3483}" srcOrd="3" destOrd="0" presId="urn:microsoft.com/office/officeart/2008/layout/LinedList"/>
    <dgm:cxn modelId="{E882ADA5-3CCD-5E4F-9980-A5343CD2FA10}" type="presParOf" srcId="{8F92B0FC-A3C6-134E-BB11-D9EF882F3483}" destId="{B4228C2A-5110-524D-AF98-8BFE834F252D}" srcOrd="0" destOrd="0" presId="urn:microsoft.com/office/officeart/2008/layout/LinedList"/>
    <dgm:cxn modelId="{F754F966-F64F-8943-9D53-3AAC51849F42}" type="presParOf" srcId="{8F92B0FC-A3C6-134E-BB11-D9EF882F3483}" destId="{3D70D50F-34A8-3649-AB8C-62F64D0F3293}"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9BD44-9BC8-0841-9333-20F8B5F5CF65}">
      <dsp:nvSpPr>
        <dsp:cNvPr id="0" name=""/>
        <dsp:cNvSpPr/>
      </dsp:nvSpPr>
      <dsp:spPr>
        <a:xfrm>
          <a:off x="0" y="110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8EFEC9-1097-D34C-83E2-00E9D6D0A60B}">
      <dsp:nvSpPr>
        <dsp:cNvPr id="0" name=""/>
        <dsp:cNvSpPr/>
      </dsp:nvSpPr>
      <dsp:spPr>
        <a:xfrm>
          <a:off x="0" y="1101"/>
          <a:ext cx="10515600" cy="751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a:t>For this experiment, we use the </a:t>
          </a:r>
          <a:r>
            <a:rPr lang="en-US" sz="1700" kern="1200" dirty="0">
              <a:hlinkClick xmlns:r="http://schemas.openxmlformats.org/officeDocument/2006/relationships" r:id="rId1"/>
            </a:rPr>
            <a:t>“Financial tweets”</a:t>
          </a:r>
          <a:r>
            <a:rPr lang="en-US" sz="1700" kern="1200" dirty="0"/>
            <a:t> from </a:t>
          </a:r>
          <a:r>
            <a:rPr lang="en-US" sz="1700" kern="1200" dirty="0" err="1"/>
            <a:t>Kaggle</a:t>
          </a:r>
          <a:r>
            <a:rPr lang="en-US" sz="1700" kern="1200" dirty="0"/>
            <a:t>.</a:t>
          </a:r>
        </a:p>
      </dsp:txBody>
      <dsp:txXfrm>
        <a:off x="0" y="1101"/>
        <a:ext cx="10515600" cy="751438"/>
      </dsp:txXfrm>
    </dsp:sp>
    <dsp:sp modelId="{1328204A-5AB8-C84C-91D5-04F4D12F5358}">
      <dsp:nvSpPr>
        <dsp:cNvPr id="0" name=""/>
        <dsp:cNvSpPr/>
      </dsp:nvSpPr>
      <dsp:spPr>
        <a:xfrm>
          <a:off x="0" y="752539"/>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3DCC42-BDE5-7749-AF7B-8E7AA47D056E}">
      <dsp:nvSpPr>
        <dsp:cNvPr id="0" name=""/>
        <dsp:cNvSpPr/>
      </dsp:nvSpPr>
      <dsp:spPr>
        <a:xfrm>
          <a:off x="0" y="752539"/>
          <a:ext cx="10515600" cy="751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a:t>This file contains 28k+ tweets about publicly traded companies (and a few cryptocurrencies) that are tagged with the company they are tweeting about and their symbol as well as more fields.</a:t>
          </a:r>
        </a:p>
      </dsp:txBody>
      <dsp:txXfrm>
        <a:off x="0" y="752539"/>
        <a:ext cx="10515600" cy="751438"/>
      </dsp:txXfrm>
    </dsp:sp>
    <dsp:sp modelId="{767A8C67-AC39-5C4E-8DA9-FD5337D0C57C}">
      <dsp:nvSpPr>
        <dsp:cNvPr id="0" name=""/>
        <dsp:cNvSpPr/>
      </dsp:nvSpPr>
      <dsp:spPr>
        <a:xfrm>
          <a:off x="0" y="1503978"/>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A07B5B-039D-934A-BF2A-9A6E160D6D25}">
      <dsp:nvSpPr>
        <dsp:cNvPr id="0" name=""/>
        <dsp:cNvSpPr/>
      </dsp:nvSpPr>
      <dsp:spPr>
        <a:xfrm>
          <a:off x="0" y="1503978"/>
          <a:ext cx="10515600" cy="751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a:t>For our project we have chosen 10 companies: Accenture plc, Apple Inc., Bed Bath &amp; Beyond Inc., CEMEX, Electronic Arts Inc., Kellogg Company, M&amp;T Bank Corporation, Micron Technology, Starbucks Corporation, The Goldman Sachs.</a:t>
          </a:r>
        </a:p>
      </dsp:txBody>
      <dsp:txXfrm>
        <a:off x="0" y="1503978"/>
        <a:ext cx="10515600" cy="7514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5EB417-C3C1-CB4C-B219-964BCEB24141}">
      <dsp:nvSpPr>
        <dsp:cNvPr id="0" name=""/>
        <dsp:cNvSpPr/>
      </dsp:nvSpPr>
      <dsp:spPr>
        <a:xfrm>
          <a:off x="0" y="0"/>
          <a:ext cx="109204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16B398-3CD3-4B47-B024-35AE77614DF3}">
      <dsp:nvSpPr>
        <dsp:cNvPr id="0" name=""/>
        <dsp:cNvSpPr/>
      </dsp:nvSpPr>
      <dsp:spPr>
        <a:xfrm>
          <a:off x="0" y="0"/>
          <a:ext cx="10920460" cy="16124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t>We also have collected Stock Close prices for our 10 companies from Yahoo Finance.</a:t>
          </a:r>
          <a:r>
            <a:rPr lang="ru-RU" sz="2400" kern="1200" dirty="0"/>
            <a:t> </a:t>
          </a:r>
          <a:r>
            <a:rPr lang="en-US" sz="2400" kern="1200" dirty="0"/>
            <a:t>Then we converted them into daily stock returns to compare </a:t>
          </a:r>
          <a:r>
            <a:rPr lang="en" sz="2400" kern="1200" dirty="0"/>
            <a:t>this data with the result of the model. </a:t>
          </a:r>
          <a:endParaRPr lang="en-US" sz="2400" kern="1200" dirty="0"/>
        </a:p>
        <a:p>
          <a:pPr lvl="0" algn="l" defTabSz="1066800">
            <a:lnSpc>
              <a:spcPct val="90000"/>
            </a:lnSpc>
            <a:spcBef>
              <a:spcPct val="0"/>
            </a:spcBef>
            <a:spcAft>
              <a:spcPct val="35000"/>
            </a:spcAft>
          </a:pPr>
          <a:r>
            <a:rPr lang="en-US" sz="2000" kern="1200" dirty="0"/>
            <a:t>We used the modules: </a:t>
          </a:r>
          <a:r>
            <a:rPr lang="en-US" sz="2000" kern="1200" dirty="0" err="1"/>
            <a:t>yfinance</a:t>
          </a:r>
          <a:r>
            <a:rPr lang="en-US" sz="2000" kern="1200" dirty="0"/>
            <a:t>, </a:t>
          </a:r>
          <a:r>
            <a:rPr lang="en-US" sz="2000" kern="1200" dirty="0" err="1"/>
            <a:t>yahoofinancials</a:t>
          </a:r>
          <a:r>
            <a:rPr lang="en-US" sz="2000" kern="1200" dirty="0"/>
            <a:t>.</a:t>
          </a:r>
        </a:p>
      </dsp:txBody>
      <dsp:txXfrm>
        <a:off x="0" y="0"/>
        <a:ext cx="10920460" cy="1612405"/>
      </dsp:txXfrm>
    </dsp:sp>
    <dsp:sp modelId="{22617E92-3F81-6144-A808-A256829A4B7F}">
      <dsp:nvSpPr>
        <dsp:cNvPr id="0" name=""/>
        <dsp:cNvSpPr/>
      </dsp:nvSpPr>
      <dsp:spPr>
        <a:xfrm>
          <a:off x="0" y="1612405"/>
          <a:ext cx="109204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228C2A-5110-524D-AF98-8BFE834F252D}">
      <dsp:nvSpPr>
        <dsp:cNvPr id="0" name=""/>
        <dsp:cNvSpPr/>
      </dsp:nvSpPr>
      <dsp:spPr>
        <a:xfrm>
          <a:off x="0" y="1612405"/>
          <a:ext cx="10920460" cy="16124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lvl="0" algn="l" defTabSz="2133600">
            <a:lnSpc>
              <a:spcPct val="90000"/>
            </a:lnSpc>
            <a:spcBef>
              <a:spcPct val="0"/>
            </a:spcBef>
            <a:spcAft>
              <a:spcPct val="35000"/>
            </a:spcAft>
          </a:pPr>
          <a:endParaRPr lang="en-US" sz="4800" kern="1200" dirty="0"/>
        </a:p>
      </dsp:txBody>
      <dsp:txXfrm>
        <a:off x="0" y="1612405"/>
        <a:ext cx="10920460" cy="161240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90F2C0-3AEB-6847-852B-84273B38A46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193C5E1-2F2B-754B-B1D9-7DAE448621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3C88F5C-14CF-AB4C-8376-242E7F8E2B1A}"/>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7DA0BE8D-D11F-0542-A69A-A13C2F15156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1EF4F7B-4A49-7F49-B9B9-2054EC47FA47}"/>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400332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C3B967-044E-5C49-A8C1-193324BE2FE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338E396-88B9-224F-A9C1-36BF1317E8C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1A0E91D-CFCE-134C-B037-CFF18DCCC91A}"/>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6A400D37-D1E5-214D-A7BD-5C6EB596C5F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47F39FD-7555-374A-9440-85F265F16646}"/>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4132162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798F03-6E09-754A-94A1-FD9EBF1B008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6798C2A8-2D43-0F4C-A847-0C7B10BC1F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EC923B1-A8AD-FC4A-8813-E6BD4B31E9D6}"/>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A61A7E8F-228C-AE41-821A-E680A66102B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396297A-57EA-704C-B231-BC7AFDEFE0C3}"/>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68647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ABC27A-8DA7-F84A-9DA6-52BF50298B7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9CF1458-B095-C84D-A67B-C288FA77FCBA}"/>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4ECCFA84-5905-4D40-8708-2247B74D0EB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5A3D28F-8DEB-9640-AB2E-8BFA7F339C6E}"/>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6" name="Нижний колонтитул 5">
            <a:extLst>
              <a:ext uri="{FF2B5EF4-FFF2-40B4-BE49-F238E27FC236}">
                <a16:creationId xmlns:a16="http://schemas.microsoft.com/office/drawing/2014/main" id="{506522FE-CAB9-A940-BD4C-038B4A615CD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2F5EBCE-FB14-C94A-B28B-F03964745133}"/>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2923510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846D50-1544-DE45-86C4-C8753B4C809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017B1EF1-7435-4448-B165-5507E1EBF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CE629AA-7476-FD43-957C-4D277E04395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2E23C6C-A834-7B49-9675-75B5EF7196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4887298-08F0-774E-89C4-D560AF7911E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C47603D-FEED-3A4B-9E89-E125EB7816CC}"/>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8" name="Нижний колонтитул 7">
            <a:extLst>
              <a:ext uri="{FF2B5EF4-FFF2-40B4-BE49-F238E27FC236}">
                <a16:creationId xmlns:a16="http://schemas.microsoft.com/office/drawing/2014/main" id="{D3E7FC5C-57A5-4A4E-A518-A80708183846}"/>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E0ACCA3-79C2-734B-B6C5-911CCA4EF1D4}"/>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3687591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A869F2-8CEA-BF49-BC86-F8A165F37F8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4B066AF-267C-A247-975D-E760DB66EAD8}"/>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4" name="Нижний колонтитул 3">
            <a:extLst>
              <a:ext uri="{FF2B5EF4-FFF2-40B4-BE49-F238E27FC236}">
                <a16:creationId xmlns:a16="http://schemas.microsoft.com/office/drawing/2014/main" id="{EE9C020F-ED30-FB4F-ADE5-CBAFCDF033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DE6BE51-72E0-DB4C-9D72-D5F13CA55DFC}"/>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3247594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DB93D6C8-8ADF-2D4B-85A2-E85737FD3F17}"/>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3" name="Нижний колонтитул 2">
            <a:extLst>
              <a:ext uri="{FF2B5EF4-FFF2-40B4-BE49-F238E27FC236}">
                <a16:creationId xmlns:a16="http://schemas.microsoft.com/office/drawing/2014/main" id="{53F8244D-E555-C146-B4E6-7690A6CC3B2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EDF6B3E6-39AA-6C47-A507-ECB4571E31C0}"/>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2529754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CD89B-A717-9842-9A1A-7EED69FF0DF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C79C5BF7-1606-B847-B5BD-04EA2387B3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8BB08F37-4BF5-A24D-B4F1-770C431B3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0F11F21-FAD4-FE47-BB52-BE1B5E0078D0}"/>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6" name="Нижний колонтитул 5">
            <a:extLst>
              <a:ext uri="{FF2B5EF4-FFF2-40B4-BE49-F238E27FC236}">
                <a16:creationId xmlns:a16="http://schemas.microsoft.com/office/drawing/2014/main" id="{5235FF78-5137-5E49-A022-13B19302EF6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5356377-7449-3740-92A0-BC2A41CE1CD2}"/>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1347060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C5923A-31DA-EF49-B617-3860CE28F6B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0249968-3E95-1540-B770-2664D102CA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5A233BBA-BFFB-774A-8B0C-8A15484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65F53F6-5AE5-3042-9945-7769531A840D}"/>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6" name="Нижний колонтитул 5">
            <a:extLst>
              <a:ext uri="{FF2B5EF4-FFF2-40B4-BE49-F238E27FC236}">
                <a16:creationId xmlns:a16="http://schemas.microsoft.com/office/drawing/2014/main" id="{D736CC11-9DB8-8A4E-A78A-238B4487B38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0106B0B-5000-C947-9F15-08E0848DEBB3}"/>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503014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93BE32-C22B-1A44-A05F-99834B1DA89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472B218-854D-234D-A22F-7D193FDE9A5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1F9AC9C-730E-494A-B85D-172873967C46}"/>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1EF894C0-DD83-884B-B1DD-5106CC0BAAE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99ACD0E-31FE-CD46-9237-8A7AFCBDB2C6}"/>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2733598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CF7ED25C-82B6-4343-8562-957DB5AA371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66C06CC-7850-8648-9FC8-2288CB342C3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B4C0EF3-FC43-1747-896F-6B4CCF5908D9}"/>
              </a:ext>
            </a:extLst>
          </p:cNvPr>
          <p:cNvSpPr>
            <a:spLocks noGrp="1"/>
          </p:cNvSpPr>
          <p:nvPr>
            <p:ph type="dt" sz="half" idx="10"/>
          </p:nvPr>
        </p:nvSpPr>
        <p:spPr/>
        <p:txBody>
          <a:body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FD8BBF30-362D-C84A-A828-930E509B064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EE18201-D04F-F943-866B-C274314C627A}"/>
              </a:ext>
            </a:extLst>
          </p:cNvPr>
          <p:cNvSpPr>
            <a:spLocks noGrp="1"/>
          </p:cNvSpPr>
          <p:nvPr>
            <p:ph type="sldNum" sz="quarter" idx="12"/>
          </p:nvPr>
        </p:nvSpPr>
        <p:spPr/>
        <p:txBody>
          <a:bodyPr/>
          <a:lstStyle/>
          <a:p>
            <a:fld id="{883BE856-B644-BA47-B3A8-E8D4A1CA5ADE}" type="slidenum">
              <a:rPr lang="ru-RU" smtClean="0"/>
              <a:t>‹#›</a:t>
            </a:fld>
            <a:endParaRPr lang="ru-RU"/>
          </a:p>
        </p:txBody>
      </p:sp>
    </p:spTree>
    <p:extLst>
      <p:ext uri="{BB962C8B-B14F-4D97-AF65-F5344CB8AC3E}">
        <p14:creationId xmlns:p14="http://schemas.microsoft.com/office/powerpoint/2010/main" val="3429450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Объект 7" hidden="1"/>
          <p:cNvGraphicFramePr>
            <a:graphicFrameLocks noChangeAspect="1"/>
          </p:cNvGraphicFramePr>
          <p:nvPr userDrawn="1">
            <p:custDataLst>
              <p:tags r:id="rId14"/>
            </p:custDataLst>
            <p:extLst>
              <p:ext uri="{D42A27DB-BD31-4B8C-83A1-F6EECF244321}">
                <p14:modId xmlns:p14="http://schemas.microsoft.com/office/powerpoint/2010/main" val="16962326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7" name="Слайд think-cell" r:id="rId15" imgW="473" imgH="476" progId="TCLayout.ActiveDocument.1">
                  <p:embed/>
                </p:oleObj>
              </mc:Choice>
              <mc:Fallback>
                <p:oleObj name="Слайд think-cell" r:id="rId15" imgW="473" imgH="476" progId="TCLayout.ActiveDocument.1">
                  <p:embed/>
                  <p:pic>
                    <p:nvPicPr>
                      <p:cNvPr id="0" name=""/>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6645A011-B614-0849-B11C-BAF842C82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D37D49B7-A4DB-D448-A1FB-8E4356034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6DD999D-7F35-E14B-BD53-C9181772F8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5DFD65-30FF-4845-BEDF-95CDC7408870}" type="datetimeFigureOut">
              <a:rPr lang="ru-RU" smtClean="0"/>
              <a:t>28.12.2021</a:t>
            </a:fld>
            <a:endParaRPr lang="ru-RU"/>
          </a:p>
        </p:txBody>
      </p:sp>
      <p:sp>
        <p:nvSpPr>
          <p:cNvPr id="5" name="Нижний колонтитул 4">
            <a:extLst>
              <a:ext uri="{FF2B5EF4-FFF2-40B4-BE49-F238E27FC236}">
                <a16:creationId xmlns:a16="http://schemas.microsoft.com/office/drawing/2014/main" id="{8858BFFA-286A-E443-9067-A4811AD2D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3961753-90FF-364A-842D-1DA24062FA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3BE856-B644-BA47-B3A8-E8D4A1CA5ADE}" type="slidenum">
              <a:rPr lang="ru-RU" smtClean="0"/>
              <a:t>‹#›</a:t>
            </a:fld>
            <a:endParaRPr lang="ru-RU"/>
          </a:p>
        </p:txBody>
      </p:sp>
    </p:spTree>
    <p:extLst>
      <p:ext uri="{BB962C8B-B14F-4D97-AF65-F5344CB8AC3E}">
        <p14:creationId xmlns:p14="http://schemas.microsoft.com/office/powerpoint/2010/main" val="628470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hyperlink" Target="https://github.com/Nastya224/Project.-Tweets-Sentimental-analyse/blob/main/Project_tweets_senti_analyse(1).ipynb" TargetMode="Externa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slideLayout" Target="../slideLayouts/slideLayout2.xml"/><Relationship Id="rId7" Type="http://schemas.openxmlformats.org/officeDocument/2006/relationships/diagramLayout" Target="../diagrams/layout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diagramData" Target="../diagrams/data2.xml"/><Relationship Id="rId11" Type="http://schemas.openxmlformats.org/officeDocument/2006/relationships/image" Target="../media/image4.png"/><Relationship Id="rId5" Type="http://schemas.openxmlformats.org/officeDocument/2006/relationships/image" Target="../media/image1.emf"/><Relationship Id="rId10" Type="http://schemas.microsoft.com/office/2007/relationships/diagramDrawing" Target="../diagrams/drawing2.xml"/><Relationship Id="rId4" Type="http://schemas.openxmlformats.org/officeDocument/2006/relationships/oleObject" Target="../embeddings/oleObject3.bin"/><Relationship Id="rId9" Type="http://schemas.openxmlformats.org/officeDocument/2006/relationships/diagramColors" Target="../diagrams/colors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hyperlink" Target="https://sites.google.com/view/fiqa/home" TargetMode="External"/><Relationship Id="rId5" Type="http://schemas.openxmlformats.org/officeDocument/2006/relationships/image" Target="../media/image1.e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p:custDataLst>
              <p:tags r:id="rId2"/>
            </p:custDataLst>
            <p:extLst>
              <p:ext uri="{D42A27DB-BD31-4B8C-83A1-F6EECF244321}">
                <p14:modId xmlns:p14="http://schemas.microsoft.com/office/powerpoint/2010/main" val="2240587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3" name="Слайд think-cell" r:id="rId4" imgW="473" imgH="476" progId="TCLayout.ActiveDocument.1">
                  <p:embed/>
                </p:oleObj>
              </mc:Choice>
              <mc:Fallback>
                <p:oleObj name="Слайд think-cell"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Подзаголовок 2">
            <a:extLst>
              <a:ext uri="{FF2B5EF4-FFF2-40B4-BE49-F238E27FC236}">
                <a16:creationId xmlns:a16="http://schemas.microsoft.com/office/drawing/2014/main" id="{CCC023B6-C163-0745-ADF4-1587A45FB494}"/>
              </a:ext>
            </a:extLst>
          </p:cNvPr>
          <p:cNvSpPr>
            <a:spLocks noGrp="1"/>
          </p:cNvSpPr>
          <p:nvPr>
            <p:ph type="subTitle" idx="1"/>
          </p:nvPr>
        </p:nvSpPr>
        <p:spPr>
          <a:xfrm>
            <a:off x="4439633" y="4518923"/>
            <a:ext cx="3312734" cy="1141851"/>
          </a:xfrm>
          <a:noFill/>
        </p:spPr>
        <p:txBody>
          <a:bodyPr>
            <a:normAutofit/>
          </a:bodyPr>
          <a:lstStyle/>
          <a:p>
            <a:r>
              <a:rPr lang="en-US" sz="2000">
                <a:solidFill>
                  <a:srgbClr val="080808"/>
                </a:solidFill>
              </a:rPr>
              <a:t>Irina Zandakova</a:t>
            </a:r>
          </a:p>
          <a:p>
            <a:r>
              <a:rPr lang="en-US" sz="2000">
                <a:solidFill>
                  <a:srgbClr val="080808"/>
                </a:solidFill>
              </a:rPr>
              <a:t>Anastasiya Golunova</a:t>
            </a:r>
            <a:endParaRPr lang="ru-RU" sz="2000">
              <a:solidFill>
                <a:srgbClr val="080808"/>
              </a:solidFill>
            </a:endParaRPr>
          </a:p>
        </p:txBody>
      </p:sp>
      <p:sp>
        <p:nvSpPr>
          <p:cNvPr id="2" name="Заголовок 1">
            <a:extLst>
              <a:ext uri="{FF2B5EF4-FFF2-40B4-BE49-F238E27FC236}">
                <a16:creationId xmlns:a16="http://schemas.microsoft.com/office/drawing/2014/main" id="{9AB03B1D-949C-CE43-AC05-ED86F3FE6F15}"/>
              </a:ext>
            </a:extLst>
          </p:cNvPr>
          <p:cNvSpPr>
            <a:spLocks noGrp="1"/>
          </p:cNvSpPr>
          <p:nvPr>
            <p:ph type="ctrTitle"/>
          </p:nvPr>
        </p:nvSpPr>
        <p:spPr>
          <a:xfrm>
            <a:off x="3204642" y="2353641"/>
            <a:ext cx="5782716" cy="2150719"/>
          </a:xfrm>
          <a:noFill/>
        </p:spPr>
        <p:txBody>
          <a:bodyPr vert="horz" anchor="ctr">
            <a:normAutofit/>
          </a:bodyPr>
          <a:lstStyle/>
          <a:p>
            <a:r>
              <a:rPr lang="en-US" sz="3600" dirty="0">
                <a:solidFill>
                  <a:srgbClr val="080808"/>
                </a:solidFill>
              </a:rPr>
              <a:t>Financial sentiment analysis based on tweets</a:t>
            </a:r>
            <a:r>
              <a:rPr lang="ru-RU" sz="3600" dirty="0">
                <a:solidFill>
                  <a:srgbClr val="080808"/>
                </a:solidFill>
              </a:rPr>
              <a:t/>
            </a:r>
            <a:br>
              <a:rPr lang="ru-RU" sz="3600" dirty="0">
                <a:solidFill>
                  <a:srgbClr val="080808"/>
                </a:solidFill>
              </a:rPr>
            </a:br>
            <a:r>
              <a:rPr lang="en-US" sz="1400" dirty="0">
                <a:solidFill>
                  <a:srgbClr val="080808"/>
                </a:solidFill>
              </a:rPr>
              <a:t>Link: </a:t>
            </a:r>
            <a:r>
              <a:rPr lang="en-US" sz="1200" dirty="0">
                <a:hlinkClick r:id="rId6"/>
              </a:rPr>
              <a:t>Project.-Tweets-Sentimental-</a:t>
            </a:r>
            <a:r>
              <a:rPr lang="en-US" sz="1200" dirty="0" err="1">
                <a:hlinkClick r:id="rId6"/>
              </a:rPr>
              <a:t>analyse</a:t>
            </a:r>
            <a:r>
              <a:rPr lang="en-US" sz="1200" dirty="0">
                <a:hlinkClick r:id="rId6"/>
              </a:rPr>
              <a:t>/</a:t>
            </a:r>
            <a:r>
              <a:rPr lang="en-US" sz="1200" dirty="0" err="1">
                <a:hlinkClick r:id="rId6"/>
              </a:rPr>
              <a:t>Project_tweets_senti_analyse</a:t>
            </a:r>
            <a:r>
              <a:rPr lang="en-US" sz="1200" dirty="0">
                <a:hlinkClick r:id="rId6"/>
              </a:rPr>
              <a:t>(1).</a:t>
            </a:r>
            <a:r>
              <a:rPr lang="en-US" sz="1200" dirty="0" err="1">
                <a:hlinkClick r:id="rId6"/>
              </a:rPr>
              <a:t>ipynb</a:t>
            </a:r>
            <a:r>
              <a:rPr lang="en-US" sz="1200" dirty="0">
                <a:hlinkClick r:id="rId6"/>
              </a:rPr>
              <a:t> at main · Nastya224/Project.-Tweets-Sentimental-</a:t>
            </a:r>
            <a:r>
              <a:rPr lang="en-US" sz="1200" dirty="0" err="1">
                <a:hlinkClick r:id="rId6"/>
              </a:rPr>
              <a:t>analyse</a:t>
            </a:r>
            <a:r>
              <a:rPr lang="en-US" sz="1200" dirty="0">
                <a:hlinkClick r:id="rId6"/>
              </a:rPr>
              <a:t> (github.com)</a:t>
            </a:r>
            <a:r>
              <a:rPr lang="en-US" sz="1200" dirty="0"/>
              <a:t/>
            </a:r>
            <a:br>
              <a:rPr lang="en-US" sz="1200" dirty="0"/>
            </a:br>
            <a:endParaRPr lang="ru-RU" sz="1200" dirty="0">
              <a:solidFill>
                <a:srgbClr val="080808"/>
              </a:solidFill>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1319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193FCE43-A1CF-0842-9C8C-76552A0DFF5A}"/>
              </a:ext>
            </a:extLst>
          </p:cNvPr>
          <p:cNvSpPr>
            <a:spLocks noGrp="1"/>
          </p:cNvSpPr>
          <p:nvPr>
            <p:ph type="title"/>
          </p:nvPr>
        </p:nvSpPr>
        <p:spPr>
          <a:xfrm>
            <a:off x="643467" y="321734"/>
            <a:ext cx="10905066" cy="1135737"/>
          </a:xfrm>
        </p:spPr>
        <p:txBody>
          <a:bodyPr>
            <a:normAutofit/>
          </a:bodyPr>
          <a:lstStyle/>
          <a:p>
            <a:r>
              <a:rPr lang="en-US" sz="3600"/>
              <a:t>Main idea</a:t>
            </a:r>
            <a:endParaRPr lang="ru-RU" sz="3600"/>
          </a:p>
        </p:txBody>
      </p:sp>
      <p:sp>
        <p:nvSpPr>
          <p:cNvPr id="3" name="Объект 2">
            <a:extLst>
              <a:ext uri="{FF2B5EF4-FFF2-40B4-BE49-F238E27FC236}">
                <a16:creationId xmlns:a16="http://schemas.microsoft.com/office/drawing/2014/main" id="{65B540C7-FCBF-0747-A615-A173DE4ECD2E}"/>
              </a:ext>
            </a:extLst>
          </p:cNvPr>
          <p:cNvSpPr>
            <a:spLocks noGrp="1"/>
          </p:cNvSpPr>
          <p:nvPr>
            <p:ph idx="1"/>
          </p:nvPr>
        </p:nvSpPr>
        <p:spPr>
          <a:xfrm>
            <a:off x="643467" y="1782981"/>
            <a:ext cx="10905066" cy="4393982"/>
          </a:xfrm>
        </p:spPr>
        <p:txBody>
          <a:bodyPr>
            <a:normAutofit/>
          </a:bodyPr>
          <a:lstStyle/>
          <a:p>
            <a:r>
              <a:rPr lang="en" sz="2000" dirty="0"/>
              <a:t>Sentiment analysis is a very common task in NLP that aims to assign a "feeling" or an "emotion" to text. Typically, it predicts whether the sentiment is positive, negative or neutral.</a:t>
            </a:r>
          </a:p>
          <a:p>
            <a:r>
              <a:rPr lang="en" sz="2000" dirty="0"/>
              <a:t>It's promising in the financial domain as changes in sentiment around a company could help predict a rise or fall in that company's stock.</a:t>
            </a:r>
          </a:p>
          <a:p>
            <a:r>
              <a:rPr lang="en" sz="2000" dirty="0"/>
              <a:t>In our project we </a:t>
            </a:r>
            <a:r>
              <a:rPr lang="en-US" sz="2000" dirty="0"/>
              <a:t>check if it’s possible to predict </a:t>
            </a:r>
            <a:r>
              <a:rPr lang="en" sz="2000" dirty="0"/>
              <a:t>the rise or fall of stock prices using sentimental analysis of tweets</a:t>
            </a:r>
            <a:endParaRPr lang="ru-RU"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Рисунок 4">
            <a:extLst>
              <a:ext uri="{FF2B5EF4-FFF2-40B4-BE49-F238E27FC236}">
                <a16:creationId xmlns:a16="http://schemas.microsoft.com/office/drawing/2014/main" id="{66EC4705-2ED7-0B47-AC7E-850678D80990}"/>
              </a:ext>
            </a:extLst>
          </p:cNvPr>
          <p:cNvPicPr>
            <a:picLocks noChangeAspect="1"/>
          </p:cNvPicPr>
          <p:nvPr/>
        </p:nvPicPr>
        <p:blipFill>
          <a:blip r:embed="rId2"/>
          <a:stretch>
            <a:fillRect/>
          </a:stretch>
        </p:blipFill>
        <p:spPr>
          <a:xfrm>
            <a:off x="3873500" y="3812953"/>
            <a:ext cx="4445000" cy="2501900"/>
          </a:xfrm>
          <a:prstGeom prst="rect">
            <a:avLst/>
          </a:prstGeom>
        </p:spPr>
      </p:pic>
    </p:spTree>
    <p:extLst>
      <p:ext uri="{BB962C8B-B14F-4D97-AF65-F5344CB8AC3E}">
        <p14:creationId xmlns:p14="http://schemas.microsoft.com/office/powerpoint/2010/main" val="39210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C1D67D-8B4E-6145-BAFE-4C3887882BD2}"/>
              </a:ext>
            </a:extLst>
          </p:cNvPr>
          <p:cNvSpPr>
            <a:spLocks noGrp="1"/>
          </p:cNvSpPr>
          <p:nvPr>
            <p:ph type="title"/>
          </p:nvPr>
        </p:nvSpPr>
        <p:spPr/>
        <p:txBody>
          <a:bodyPr/>
          <a:lstStyle/>
          <a:p>
            <a:r>
              <a:rPr lang="en-US" dirty="0"/>
              <a:t>The data we use</a:t>
            </a:r>
            <a:endParaRPr lang="ru-RU" dirty="0"/>
          </a:p>
        </p:txBody>
      </p:sp>
      <p:graphicFrame>
        <p:nvGraphicFramePr>
          <p:cNvPr id="5" name="Объект 2">
            <a:extLst>
              <a:ext uri="{FF2B5EF4-FFF2-40B4-BE49-F238E27FC236}">
                <a16:creationId xmlns:a16="http://schemas.microsoft.com/office/drawing/2014/main" id="{F9C53D97-D160-4D95-9722-08129D8016E6}"/>
              </a:ext>
            </a:extLst>
          </p:cNvPr>
          <p:cNvGraphicFramePr>
            <a:graphicFrameLocks noGrp="1"/>
          </p:cNvGraphicFramePr>
          <p:nvPr>
            <p:ph idx="1"/>
            <p:extLst>
              <p:ext uri="{D42A27DB-BD31-4B8C-83A1-F6EECF244321}">
                <p14:modId xmlns:p14="http://schemas.microsoft.com/office/powerpoint/2010/main" val="3993698731"/>
              </p:ext>
            </p:extLst>
          </p:nvPr>
        </p:nvGraphicFramePr>
        <p:xfrm>
          <a:off x="914400" y="1477282"/>
          <a:ext cx="10515600" cy="22565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Рисунок 2"/>
          <p:cNvPicPr>
            <a:picLocks noChangeAspect="1"/>
          </p:cNvPicPr>
          <p:nvPr/>
        </p:nvPicPr>
        <p:blipFill rotWithShape="1">
          <a:blip r:embed="rId7"/>
          <a:srcRect l="26001" t="39592" r="6499" b="18000"/>
          <a:stretch/>
        </p:blipFill>
        <p:spPr>
          <a:xfrm>
            <a:off x="1544955" y="3733800"/>
            <a:ext cx="8625840" cy="2907228"/>
          </a:xfrm>
          <a:prstGeom prst="rect">
            <a:avLst/>
          </a:prstGeom>
        </p:spPr>
      </p:pic>
    </p:spTree>
    <p:extLst>
      <p:ext uri="{BB962C8B-B14F-4D97-AF65-F5344CB8AC3E}">
        <p14:creationId xmlns:p14="http://schemas.microsoft.com/office/powerpoint/2010/main" val="2748950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Объект 2" hidden="1"/>
          <p:cNvGraphicFramePr>
            <a:graphicFrameLocks noChangeAspect="1"/>
          </p:cNvGraphicFramePr>
          <p:nvPr>
            <p:custDataLst>
              <p:tags r:id="rId2"/>
            </p:custDataLst>
            <p:extLst>
              <p:ext uri="{D42A27DB-BD31-4B8C-83A1-F6EECF244321}">
                <p14:modId xmlns:p14="http://schemas.microsoft.com/office/powerpoint/2010/main" val="2640065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86" name="Слайд think-cell" r:id="rId4" imgW="473" imgH="476" progId="TCLayout.ActiveDocument.1">
                  <p:embed/>
                </p:oleObj>
              </mc:Choice>
              <mc:Fallback>
                <p:oleObj name="Слайд think-cell"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29F8370E-9C03-A345-B1A8-A845FBFEE525}"/>
              </a:ext>
            </a:extLst>
          </p:cNvPr>
          <p:cNvSpPr>
            <a:spLocks noGrp="1"/>
          </p:cNvSpPr>
          <p:nvPr>
            <p:ph type="title"/>
          </p:nvPr>
        </p:nvSpPr>
        <p:spPr>
          <a:xfrm>
            <a:off x="4968009" y="296400"/>
            <a:ext cx="3962061" cy="4516360"/>
          </a:xfrm>
        </p:spPr>
        <p:txBody>
          <a:bodyPr vert="horz" anchor="t">
            <a:normAutofit/>
          </a:bodyPr>
          <a:lstStyle/>
          <a:p>
            <a:r>
              <a:rPr lang="en-US" dirty="0"/>
              <a:t>Data</a:t>
            </a:r>
            <a:endParaRPr lang="ru-RU" dirty="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2" name="Объект 2">
            <a:extLst>
              <a:ext uri="{FF2B5EF4-FFF2-40B4-BE49-F238E27FC236}">
                <a16:creationId xmlns:a16="http://schemas.microsoft.com/office/drawing/2014/main" id="{BE1BE676-1AC8-4AC4-A6C3-BD3DADA637BC}"/>
              </a:ext>
            </a:extLst>
          </p:cNvPr>
          <p:cNvGraphicFramePr>
            <a:graphicFrameLocks noGrp="1"/>
          </p:cNvGraphicFramePr>
          <p:nvPr>
            <p:ph idx="1"/>
            <p:extLst>
              <p:ext uri="{D42A27DB-BD31-4B8C-83A1-F6EECF244321}">
                <p14:modId xmlns:p14="http://schemas.microsoft.com/office/powerpoint/2010/main" val="3684251060"/>
              </p:ext>
            </p:extLst>
          </p:nvPr>
        </p:nvGraphicFramePr>
        <p:xfrm>
          <a:off x="844967" y="1283987"/>
          <a:ext cx="10920460" cy="32248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Рисунок 3"/>
          <p:cNvPicPr>
            <a:picLocks noChangeAspect="1"/>
          </p:cNvPicPr>
          <p:nvPr/>
        </p:nvPicPr>
        <p:blipFill rotWithShape="1">
          <a:blip r:embed="rId11"/>
          <a:srcRect l="5500" t="33844" r="28500" b="34933"/>
          <a:stretch/>
        </p:blipFill>
        <p:spPr>
          <a:xfrm>
            <a:off x="844967" y="3789454"/>
            <a:ext cx="10923082" cy="2772146"/>
          </a:xfrm>
          <a:prstGeom prst="rect">
            <a:avLst/>
          </a:prstGeom>
        </p:spPr>
      </p:pic>
    </p:spTree>
    <p:extLst>
      <p:ext uri="{BB962C8B-B14F-4D97-AF65-F5344CB8AC3E}">
        <p14:creationId xmlns:p14="http://schemas.microsoft.com/office/powerpoint/2010/main" val="116917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Объект 3" hidden="1"/>
          <p:cNvGraphicFramePr>
            <a:graphicFrameLocks noChangeAspect="1"/>
          </p:cNvGraphicFramePr>
          <p:nvPr>
            <p:custDataLst>
              <p:tags r:id="rId2"/>
            </p:custDataLst>
            <p:extLst>
              <p:ext uri="{D42A27DB-BD31-4B8C-83A1-F6EECF244321}">
                <p14:modId xmlns:p14="http://schemas.microsoft.com/office/powerpoint/2010/main" val="2991498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10" name="Слайд think-cell" r:id="rId4" imgW="473" imgH="476" progId="TCLayout.ActiveDocument.1">
                  <p:embed/>
                </p:oleObj>
              </mc:Choice>
              <mc:Fallback>
                <p:oleObj name="Слайд think-cell"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80C9CEC2-8774-C649-BCAC-7153A39737A3}"/>
              </a:ext>
            </a:extLst>
          </p:cNvPr>
          <p:cNvSpPr>
            <a:spLocks noGrp="1"/>
          </p:cNvSpPr>
          <p:nvPr>
            <p:ph type="title"/>
          </p:nvPr>
        </p:nvSpPr>
        <p:spPr>
          <a:xfrm>
            <a:off x="2615142" y="456594"/>
            <a:ext cx="7624233" cy="673554"/>
          </a:xfrm>
        </p:spPr>
        <p:txBody>
          <a:bodyPr vert="horz" anchor="t">
            <a:normAutofit/>
          </a:bodyPr>
          <a:lstStyle/>
          <a:p>
            <a:r>
              <a:rPr lang="en-US" sz="3600" dirty="0"/>
              <a:t>Model</a:t>
            </a:r>
            <a:endParaRPr lang="ru-RU" sz="3600" dirty="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Объект 2">
            <a:extLst>
              <a:ext uri="{FF2B5EF4-FFF2-40B4-BE49-F238E27FC236}">
                <a16:creationId xmlns:a16="http://schemas.microsoft.com/office/drawing/2014/main" id="{8D2952DE-DCF1-D745-86D3-FA2EFC3F0639}"/>
              </a:ext>
            </a:extLst>
          </p:cNvPr>
          <p:cNvSpPr>
            <a:spLocks noGrp="1"/>
          </p:cNvSpPr>
          <p:nvPr>
            <p:ph idx="1"/>
          </p:nvPr>
        </p:nvSpPr>
        <p:spPr>
          <a:xfrm>
            <a:off x="458260" y="1670167"/>
            <a:ext cx="11275479" cy="4516361"/>
          </a:xfrm>
        </p:spPr>
        <p:txBody>
          <a:bodyPr>
            <a:normAutofit/>
          </a:bodyPr>
          <a:lstStyle/>
          <a:p>
            <a:r>
              <a:rPr lang="en-US" sz="2400" dirty="0" err="1"/>
              <a:t>FinBERT</a:t>
            </a:r>
            <a:r>
              <a:rPr lang="en-US" sz="2400" dirty="0"/>
              <a:t> is a pre-trained NLP model based on BERT, Google’s </a:t>
            </a:r>
            <a:r>
              <a:rPr lang="en" sz="2400" dirty="0"/>
              <a:t>revolutionary transformer model. </a:t>
            </a:r>
            <a:r>
              <a:rPr lang="en" sz="2400" dirty="0" err="1"/>
              <a:t>FinBERT</a:t>
            </a:r>
            <a:r>
              <a:rPr lang="en" sz="2400" dirty="0"/>
              <a:t> is a version of BERT trained on financial data</a:t>
            </a:r>
            <a:r>
              <a:rPr lang="en-US" sz="2400" dirty="0"/>
              <a:t>, </a:t>
            </a:r>
            <a:r>
              <a:rPr lang="en" sz="2400" dirty="0"/>
              <a:t>specifically for sentiment analysis. </a:t>
            </a:r>
          </a:p>
          <a:p>
            <a:r>
              <a:rPr lang="en" sz="2400" dirty="0"/>
              <a:t>The data used to train a BERT model is text from financial news services, as well as the </a:t>
            </a:r>
            <a:r>
              <a:rPr lang="en" sz="2400" dirty="0">
                <a:hlinkClick r:id="rId6"/>
              </a:rPr>
              <a:t>FiQA</a:t>
            </a:r>
            <a:r>
              <a:rPr lang="en" sz="2400" dirty="0"/>
              <a:t> dataset. </a:t>
            </a:r>
          </a:p>
          <a:p>
            <a:r>
              <a:rPr lang="en" sz="2400" dirty="0"/>
              <a:t>We took the fine-tuned FinBERT model and put it to the test on our dataset. </a:t>
            </a:r>
            <a:r>
              <a:rPr lang="en-US" sz="2400" dirty="0" err="1"/>
              <a:t>Pretrained</a:t>
            </a:r>
            <a:r>
              <a:rPr lang="en-US" sz="2400" dirty="0"/>
              <a:t> model "</a:t>
            </a:r>
            <a:r>
              <a:rPr lang="en-US" sz="2400" dirty="0" err="1"/>
              <a:t>ProsusAI</a:t>
            </a:r>
            <a:r>
              <a:rPr lang="en-US" sz="2400" dirty="0"/>
              <a:t>/</a:t>
            </a:r>
            <a:r>
              <a:rPr lang="en-US" sz="2400" dirty="0" err="1"/>
              <a:t>finbert</a:t>
            </a:r>
            <a:r>
              <a:rPr lang="en-US" sz="2400" dirty="0"/>
              <a:t>"</a:t>
            </a:r>
            <a:endParaRPr lang="ru-RU" sz="2400" dirty="0"/>
          </a:p>
          <a:p>
            <a:r>
              <a:rPr lang="en-US" sz="2400" dirty="0"/>
              <a:t>The model returns probability of tonal coloring</a:t>
            </a:r>
            <a:r>
              <a:rPr lang="ru-RU" sz="2400" dirty="0"/>
              <a:t> </a:t>
            </a:r>
            <a:r>
              <a:rPr lang="en-US" sz="2400" dirty="0"/>
              <a:t>of the tweet (Positive, Negative, Neutral)</a:t>
            </a:r>
            <a:endParaRPr lang="en" sz="2400" dirty="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23921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7261CF-5144-FC45-9236-E5D229724B9B}"/>
              </a:ext>
            </a:extLst>
          </p:cNvPr>
          <p:cNvSpPr>
            <a:spLocks noGrp="1"/>
          </p:cNvSpPr>
          <p:nvPr>
            <p:ph type="title"/>
          </p:nvPr>
        </p:nvSpPr>
        <p:spPr/>
        <p:txBody>
          <a:bodyPr/>
          <a:lstStyle/>
          <a:p>
            <a:r>
              <a:rPr lang="en-US" dirty="0"/>
              <a:t>Results</a:t>
            </a:r>
            <a:endParaRPr lang="ru-RU" dirty="0"/>
          </a:p>
        </p:txBody>
      </p:sp>
      <p:pic>
        <p:nvPicPr>
          <p:cNvPr id="5" name="Объект 4" descr="Изображение выглядит как текст&#10;&#10;Автоматически созданное описание">
            <a:extLst>
              <a:ext uri="{FF2B5EF4-FFF2-40B4-BE49-F238E27FC236}">
                <a16:creationId xmlns:a16="http://schemas.microsoft.com/office/drawing/2014/main" id="{89AE74BD-58DE-4D47-903B-017656EC157F}"/>
              </a:ext>
            </a:extLst>
          </p:cNvPr>
          <p:cNvPicPr>
            <a:picLocks noGrp="1" noChangeAspect="1"/>
          </p:cNvPicPr>
          <p:nvPr>
            <p:ph idx="1"/>
          </p:nvPr>
        </p:nvPicPr>
        <p:blipFill>
          <a:blip r:embed="rId2"/>
          <a:stretch>
            <a:fillRect/>
          </a:stretch>
        </p:blipFill>
        <p:spPr>
          <a:xfrm>
            <a:off x="838200" y="1286651"/>
            <a:ext cx="10515600" cy="2357814"/>
          </a:xfrm>
        </p:spPr>
      </p:pic>
      <p:sp>
        <p:nvSpPr>
          <p:cNvPr id="6" name="Объект 2">
            <a:extLst>
              <a:ext uri="{FF2B5EF4-FFF2-40B4-BE49-F238E27FC236}">
                <a16:creationId xmlns:a16="http://schemas.microsoft.com/office/drawing/2014/main" id="{4A8AC0E1-F240-FD4A-B5B7-78C4AFDBA5DA}"/>
              </a:ext>
            </a:extLst>
          </p:cNvPr>
          <p:cNvSpPr txBox="1">
            <a:spLocks/>
          </p:cNvSpPr>
          <p:nvPr/>
        </p:nvSpPr>
        <p:spPr>
          <a:xfrm>
            <a:off x="838200" y="3856717"/>
            <a:ext cx="10710333" cy="235781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Columns: headline – tweet’s text</a:t>
            </a:r>
          </a:p>
          <a:p>
            <a:r>
              <a:rPr lang="en-US" dirty="0"/>
              <a:t>Date – tweet publication date</a:t>
            </a:r>
          </a:p>
          <a:p>
            <a:r>
              <a:rPr lang="en-US" dirty="0"/>
              <a:t>Company – company’s symbol at stock</a:t>
            </a:r>
          </a:p>
          <a:p>
            <a:r>
              <a:rPr lang="en-US" dirty="0"/>
              <a:t>Positive (1), Negative(-1), Neutral (0)–probability of tonal coloring</a:t>
            </a:r>
            <a:r>
              <a:rPr lang="ru-RU" dirty="0"/>
              <a:t> </a:t>
            </a:r>
            <a:r>
              <a:rPr lang="en-US" dirty="0"/>
              <a:t>of the tweet</a:t>
            </a:r>
          </a:p>
          <a:p>
            <a:r>
              <a:rPr lang="en-US" dirty="0"/>
              <a:t>Result –</a:t>
            </a:r>
            <a:r>
              <a:rPr lang="ru-RU" dirty="0"/>
              <a:t> </a:t>
            </a:r>
            <a:r>
              <a:rPr lang="en-US" dirty="0"/>
              <a:t>indicator showing the prediction of model (1 – tweets more Positive, so stock price should increase, </a:t>
            </a:r>
            <a:r>
              <a:rPr lang="ru-RU" dirty="0"/>
              <a:t>-</a:t>
            </a:r>
            <a:r>
              <a:rPr lang="en-US" dirty="0"/>
              <a:t>1 –decrease, 0 – without changes).</a:t>
            </a:r>
            <a:endParaRPr lang="en" dirty="0"/>
          </a:p>
        </p:txBody>
      </p:sp>
    </p:spTree>
    <p:extLst>
      <p:ext uri="{BB962C8B-B14F-4D97-AF65-F5344CB8AC3E}">
        <p14:creationId xmlns:p14="http://schemas.microsoft.com/office/powerpoint/2010/main" val="275240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CF0152-5551-474E-8F14-CE454B7BDA62}"/>
              </a:ext>
            </a:extLst>
          </p:cNvPr>
          <p:cNvSpPr>
            <a:spLocks noGrp="1"/>
          </p:cNvSpPr>
          <p:nvPr>
            <p:ph type="title"/>
          </p:nvPr>
        </p:nvSpPr>
        <p:spPr/>
        <p:txBody>
          <a:bodyPr/>
          <a:lstStyle/>
          <a:p>
            <a:r>
              <a:rPr lang="en-US" dirty="0"/>
              <a:t>Results</a:t>
            </a:r>
            <a:endParaRPr lang="ru-RU" dirty="0"/>
          </a:p>
        </p:txBody>
      </p:sp>
      <p:sp>
        <p:nvSpPr>
          <p:cNvPr id="3" name="Объект 2">
            <a:extLst>
              <a:ext uri="{FF2B5EF4-FFF2-40B4-BE49-F238E27FC236}">
                <a16:creationId xmlns:a16="http://schemas.microsoft.com/office/drawing/2014/main" id="{95578113-6A3D-0342-B2C2-56DEC7E8B7E6}"/>
              </a:ext>
            </a:extLst>
          </p:cNvPr>
          <p:cNvSpPr>
            <a:spLocks noGrp="1"/>
          </p:cNvSpPr>
          <p:nvPr>
            <p:ph idx="1"/>
          </p:nvPr>
        </p:nvSpPr>
        <p:spPr/>
        <p:txBody>
          <a:bodyPr>
            <a:normAutofit lnSpcReduction="10000"/>
          </a:bodyPr>
          <a:lstStyle/>
          <a:p>
            <a:r>
              <a:rPr lang="en-US" dirty="0"/>
              <a:t>We compared the probabilities we get from the model with data about stock changes. </a:t>
            </a:r>
          </a:p>
          <a:p>
            <a:r>
              <a:rPr lang="en-US" dirty="0"/>
              <a:t>We grouped all tweets by company and date, then for each company we summed up all values from column ‘Results’ for tweets that were published at the same date. Then if that number was more than 0 and if stock return was more than 2%, we accepted that case as a good prediction. If that number was less than 0 and if stock return was negative and if the decline was less than 2%, we also accepted that case as a good one. And if that number was 0 and stock changes that day was less than 2%, we also took that case as good prediction.</a:t>
            </a:r>
          </a:p>
          <a:p>
            <a:r>
              <a:rPr lang="en-US" dirty="0"/>
              <a:t>All other cases were marked as failed predictions.</a:t>
            </a:r>
          </a:p>
          <a:p>
            <a:endParaRPr lang="ru-RU" dirty="0"/>
          </a:p>
        </p:txBody>
      </p:sp>
    </p:spTree>
    <p:extLst>
      <p:ext uri="{BB962C8B-B14F-4D97-AF65-F5344CB8AC3E}">
        <p14:creationId xmlns:p14="http://schemas.microsoft.com/office/powerpoint/2010/main" val="415538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Объект 5" hidden="1"/>
          <p:cNvGraphicFramePr>
            <a:graphicFrameLocks noChangeAspect="1"/>
          </p:cNvGraphicFramePr>
          <p:nvPr>
            <p:custDataLst>
              <p:tags r:id="rId2"/>
            </p:custDataLst>
            <p:extLst>
              <p:ext uri="{D42A27DB-BD31-4B8C-83A1-F6EECF244321}">
                <p14:modId xmlns:p14="http://schemas.microsoft.com/office/powerpoint/2010/main" val="26368256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32" name="Слайд think-cell" r:id="rId4" imgW="473" imgH="476" progId="TCLayout.ActiveDocument.1">
                  <p:embed/>
                </p:oleObj>
              </mc:Choice>
              <mc:Fallback>
                <p:oleObj name="Слайд think-cell"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Заголовок 1">
            <a:extLst>
              <a:ext uri="{FF2B5EF4-FFF2-40B4-BE49-F238E27FC236}">
                <a16:creationId xmlns:a16="http://schemas.microsoft.com/office/drawing/2014/main" id="{06B0423B-7054-CF42-8CF4-A0F9B3CD616F}"/>
              </a:ext>
            </a:extLst>
          </p:cNvPr>
          <p:cNvSpPr>
            <a:spLocks noGrp="1"/>
          </p:cNvSpPr>
          <p:nvPr>
            <p:ph type="title"/>
          </p:nvPr>
        </p:nvSpPr>
        <p:spPr>
          <a:xfrm>
            <a:off x="776288" y="-101600"/>
            <a:ext cx="10515600" cy="1325563"/>
          </a:xfrm>
        </p:spPr>
        <p:txBody>
          <a:bodyPr vert="horz"/>
          <a:lstStyle/>
          <a:p>
            <a:r>
              <a:rPr lang="en-US" dirty="0"/>
              <a:t>Results</a:t>
            </a:r>
            <a:endParaRPr lang="ru-RU" dirty="0"/>
          </a:p>
        </p:txBody>
      </p:sp>
      <p:sp>
        <p:nvSpPr>
          <p:cNvPr id="7" name="Прямоугольник 6"/>
          <p:cNvSpPr/>
          <p:nvPr/>
        </p:nvSpPr>
        <p:spPr>
          <a:xfrm>
            <a:off x="900110" y="1126654"/>
            <a:ext cx="11008355" cy="923330"/>
          </a:xfrm>
          <a:prstGeom prst="rect">
            <a:avLst/>
          </a:prstGeom>
        </p:spPr>
        <p:txBody>
          <a:bodyPr wrap="square">
            <a:spAutoFit/>
          </a:bodyPr>
          <a:lstStyle/>
          <a:p>
            <a:r>
              <a:rPr lang="en-US" dirty="0"/>
              <a:t>This is a colored table showing which tweets were recognized correctly. Red color – models result doesn’t match the reality, green – match.</a:t>
            </a:r>
          </a:p>
          <a:p>
            <a:r>
              <a:rPr lang="en-US" dirty="0"/>
              <a:t>The tone coloring of 1</a:t>
            </a:r>
            <a:r>
              <a:rPr lang="ru-RU" dirty="0"/>
              <a:t>36</a:t>
            </a:r>
            <a:r>
              <a:rPr lang="en-US" dirty="0"/>
              <a:t> Tweets is correlated with stock close prices</a:t>
            </a:r>
            <a:endParaRPr lang="ru-RU" dirty="0"/>
          </a:p>
        </p:txBody>
      </p:sp>
      <p:pic>
        <p:nvPicPr>
          <p:cNvPr id="9" name="Рисунок 8"/>
          <p:cNvPicPr>
            <a:picLocks noChangeAspect="1"/>
          </p:cNvPicPr>
          <p:nvPr/>
        </p:nvPicPr>
        <p:blipFill rotWithShape="1">
          <a:blip r:embed="rId6"/>
          <a:srcRect t="25104" r="90695" b="35628"/>
          <a:stretch/>
        </p:blipFill>
        <p:spPr>
          <a:xfrm rot="16200000">
            <a:off x="4159107" y="-581564"/>
            <a:ext cx="4459579" cy="10183814"/>
          </a:xfrm>
          <a:prstGeom prst="rect">
            <a:avLst/>
          </a:prstGeom>
        </p:spPr>
      </p:pic>
    </p:spTree>
    <p:extLst>
      <p:ext uri="{BB962C8B-B14F-4D97-AF65-F5344CB8AC3E}">
        <p14:creationId xmlns:p14="http://schemas.microsoft.com/office/powerpoint/2010/main" val="95188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AC7097-BF7F-934A-B011-20ED15351CB2}"/>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 for your attention</a:t>
            </a:r>
          </a:p>
        </p:txBody>
      </p:sp>
      <p:pic>
        <p:nvPicPr>
          <p:cNvPr id="6" name="Graphic 5" descr="Smiling Face with No Fill">
            <a:extLst>
              <a:ext uri="{FF2B5EF4-FFF2-40B4-BE49-F238E27FC236}">
                <a16:creationId xmlns:a16="http://schemas.microsoft.com/office/drawing/2014/main" id="{258429BA-1CF9-4CB8-8D47-1CC4B18BA4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8154579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603</Words>
  <Application>Microsoft Office PowerPoint</Application>
  <PresentationFormat>Широкоэкранный</PresentationFormat>
  <Paragraphs>33</Paragraphs>
  <Slides>9</Slides>
  <Notes>0</Notes>
  <HiddenSlides>0</HiddenSlides>
  <MMClips>0</MMClips>
  <ScaleCrop>false</ScaleCrop>
  <HeadingPairs>
    <vt:vector size="8" baseType="variant">
      <vt:variant>
        <vt:lpstr>Использованные шрифты</vt:lpstr>
      </vt:variant>
      <vt:variant>
        <vt:i4>3</vt:i4>
      </vt:variant>
      <vt:variant>
        <vt:lpstr>Тема</vt:lpstr>
      </vt:variant>
      <vt:variant>
        <vt:i4>1</vt:i4>
      </vt:variant>
      <vt:variant>
        <vt:lpstr>Внедренные серверы OLE</vt:lpstr>
      </vt:variant>
      <vt:variant>
        <vt:i4>1</vt:i4>
      </vt:variant>
      <vt:variant>
        <vt:lpstr>Заголовки слайдов</vt:lpstr>
      </vt:variant>
      <vt:variant>
        <vt:i4>9</vt:i4>
      </vt:variant>
    </vt:vector>
  </HeadingPairs>
  <TitlesOfParts>
    <vt:vector size="14" baseType="lpstr">
      <vt:lpstr>Arial</vt:lpstr>
      <vt:lpstr>Calibri</vt:lpstr>
      <vt:lpstr>Calibri Light</vt:lpstr>
      <vt:lpstr>Тема Office</vt:lpstr>
      <vt:lpstr>Слайд think-cell</vt:lpstr>
      <vt:lpstr>Financial sentiment analysis based on tweets Link: Project.-Tweets-Sentimental-analyse/Project_tweets_senti_analyse(1).ipynb at main · Nastya224/Project.-Tweets-Sentimental-analyse (github.com) </vt:lpstr>
      <vt:lpstr>Main idea</vt:lpstr>
      <vt:lpstr>The data we use</vt:lpstr>
      <vt:lpstr>Data</vt:lpstr>
      <vt:lpstr>Model</vt:lpstr>
      <vt:lpstr>Results</vt:lpstr>
      <vt:lpstr>Results</vt:lpstr>
      <vt:lpstr>Results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sentiment analysis based on tweets</dc:title>
  <dc:creator>Зандакова Ирина Ивановна</dc:creator>
  <cp:lastModifiedBy>Golunova, Anastasiya (VW Group Rus)</cp:lastModifiedBy>
  <cp:revision>32</cp:revision>
  <dcterms:created xsi:type="dcterms:W3CDTF">2021-12-25T10:58:09Z</dcterms:created>
  <dcterms:modified xsi:type="dcterms:W3CDTF">2021-12-28T16:50:37Z</dcterms:modified>
</cp:coreProperties>
</file>